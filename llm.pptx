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5" r:id="rId11"/>
    <p:sldId id="267" r:id="rId12"/>
    <p:sldId id="270" r:id="rId13"/>
    <p:sldId id="268" r:id="rId14"/>
    <p:sldId id="269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-658" y="-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95A4668-DD60-F95D-FF78-9560440A05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C9789AD6-BFDE-3CF7-2E66-BBA61E3444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BC33E82-1541-142A-B824-8C63EA206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BDB0B-F328-4B40-800E-CA0F3A172EA1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C55DB1C-1697-97B6-D355-D630F4924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09F3FD1-79BF-A9BE-8A98-4A0B02EF5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45122-7D51-4B50-9E64-A4A251052F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2375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00E8EE2-12C7-1863-CE1D-D7C974C67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8027114-BEAD-26D4-16F6-D9F8CDDEA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4F986C2-2E71-BF95-3518-CEEA7F32E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BDB0B-F328-4B40-800E-CA0F3A172EA1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AFF152C-B626-139B-A60E-EA4BD8068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A444C13-B583-7F80-B1B4-1B95FB690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45122-7D51-4B50-9E64-A4A251052F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3918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987BE84-BF77-A6EC-4B1A-079EBA73B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E373F3B-246D-7553-49EB-EF2BE9C6E3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FCEDBAB-1F85-89A9-C1A5-82B40B50D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BDB0B-F328-4B40-800E-CA0F3A172EA1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2A4FE5C-FF5E-B82D-C842-5E39141D7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B88D974-29A5-1CB9-AE38-6E9B33ACF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45122-7D51-4B50-9E64-A4A251052F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7501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D825EE7-95B5-62AA-BF0F-CB68162E0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EA5AFD5-F1BB-8E40-C9B0-52387C9882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CD0B9608-8A1F-DE8E-F631-55AAE4905A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8BA686E-7849-841D-7183-F62AD9CB6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BDB0B-F328-4B40-800E-CA0F3A172EA1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CB70B29-5933-3194-E2F1-413BD9BD4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9642359-39C5-17F3-F41D-6F3B76D9C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45122-7D51-4B50-9E64-A4A251052F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7361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87B2F6C-9A31-A219-0D91-7F22346DF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BCBCAED-EFE1-FF33-9854-848CD797DE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54F4153-A8E4-94B9-0DE7-3C1C745A23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15ED94E5-3C23-6FFB-5B78-51F1F6E1D2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3E9388CD-BB7F-081F-67A9-38B8250127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257F3BEC-437F-1C86-776F-E335FD6BA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BDB0B-F328-4B40-800E-CA0F3A172EA1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E0BCF600-AD39-070B-C2BD-8D3A55C4D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95BC4891-2C90-ADFA-928A-D312B9709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45122-7D51-4B50-9E64-A4A251052F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2863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1ACE19A-8C67-F3A6-8DBC-7A2E8C5AA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E87605A6-5FDD-974D-688D-0042C2DE1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BDB0B-F328-4B40-800E-CA0F3A172EA1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88E11A4-C153-D730-754A-A26403F4D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E2A85F35-51C9-D025-4756-C3F43AFDF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45122-7D51-4B50-9E64-A4A251052F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164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0FE13A6B-CA8E-6627-9578-30CC5DA8D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BDB0B-F328-4B40-800E-CA0F3A172EA1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0FB5E4C2-0024-21D0-7534-2335B0B43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CA3A6B0-07F8-E387-393C-BFC029404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45122-7D51-4B50-9E64-A4A251052F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7448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E5713A9-E62F-7042-CE62-BDB01D0B8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A5DF66C-71D0-16EA-C7D8-18CA14EC4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8A38A27F-E5AA-D188-1D67-A2789D08FA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7BE5092-F2B5-BDF6-FAF5-048B7D861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BDB0B-F328-4B40-800E-CA0F3A172EA1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87E210A-6416-F2E9-EB18-AFD36111E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74063CB-7BD6-B440-24A3-DA5AD79C8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45122-7D51-4B50-9E64-A4A251052F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6833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889F378-A814-8901-42B4-0FAF4DF2C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F84F6A55-F010-45AE-A489-5B096467EA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634D4930-D0B2-CCAE-1615-3DAA1DBCC4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4272A01-9284-F83F-F73C-5917FD13D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BDB0B-F328-4B40-800E-CA0F3A172EA1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EF43558-A02B-A248-F01B-E8F5C8572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0177911-66A7-F832-569A-072080872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45122-7D51-4B50-9E64-A4A251052F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2194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9B86E4C-AF25-E88B-4ACD-D61A070F2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A8FD2B1C-A8FA-60EB-E9CD-20D334DA42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E59641B-2FBF-5918-3426-6FBF60939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BDB0B-F328-4B40-800E-CA0F3A172EA1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4451F4E-3426-9AA4-74F3-B088514E6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03A3141-097A-102D-36A7-8A847BE5A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45122-7D51-4B50-9E64-A4A251052F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075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D7D883F1-8CC8-14F3-0D41-073C8EE2FA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1B56543-8172-6AC8-17A9-A4E5DABFFC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E2D519F-9ADA-8B66-FA38-ECE31A102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BDB0B-F328-4B40-800E-CA0F3A172EA1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8500CA4-9EF9-4D4B-5AAA-A5558D94B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4B5ED06-BBFE-0E49-D1B0-6177694B2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45122-7D51-4B50-9E64-A4A251052F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9901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5BE78061-8B61-9394-4B6F-1BAB8D60E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93846D8-01C4-C7F3-48D2-F36A05EBEF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18FB36F-867F-50B7-D32D-707223996C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EBDB0B-F328-4B40-800E-CA0F3A172EA1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BB390CB-ECCD-E7F0-E1AA-547F8A606D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29BFD00-D671-B385-AB9E-7288BA7EDF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745122-7D51-4B50-9E64-A4A251052F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1253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5DA4A42-BAE2-9D3C-70C8-47CA55262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an LLM?</a:t>
            </a:r>
          </a:p>
        </p:txBody>
      </p:sp>
      <p:pic>
        <p:nvPicPr>
          <p:cNvPr id="1026" name="Picture 2" descr="Large language models, explained with a minimum of math and jargon">
            <a:extLst>
              <a:ext uri="{FF2B5EF4-FFF2-40B4-BE49-F238E27FC236}">
                <a16:creationId xmlns:a16="http://schemas.microsoft.com/office/drawing/2014/main" xmlns="" id="{38C38F01-F7D7-4271-A40C-30CEDCFA1A6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9329" y="1825625"/>
            <a:ext cx="813334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6798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4BBBDBE-744C-5D17-3C6E-2E476B2C44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Large Language Model</a:t>
            </a:r>
            <a:r>
              <a:rPr lang="en-US" dirty="0"/>
              <a:t> predicts the </a:t>
            </a:r>
            <a:r>
              <a:rPr lang="en-US" b="1" dirty="0"/>
              <a:t>next word/token</a:t>
            </a:r>
            <a:r>
              <a:rPr lang="en-US" dirty="0"/>
              <a:t> in a sequence</a:t>
            </a:r>
          </a:p>
          <a:p>
            <a:r>
              <a:rPr lang="en-US" dirty="0"/>
              <a:t>It learns:</a:t>
            </a:r>
          </a:p>
          <a:p>
            <a:r>
              <a:rPr lang="en-US" dirty="0"/>
              <a:t>✅ Grammar &amp; sentence structure</a:t>
            </a:r>
            <a:br>
              <a:rPr lang="en-US" dirty="0"/>
            </a:br>
            <a:r>
              <a:rPr lang="en-US" dirty="0"/>
              <a:t>✅ Relationships between words (king ↔ queen)</a:t>
            </a:r>
            <a:br>
              <a:rPr lang="en-US" dirty="0"/>
            </a:br>
            <a:r>
              <a:rPr lang="en-US" dirty="0"/>
              <a:t>✅ World knowledge (Mysuru, India, rulers, etc.)</a:t>
            </a:r>
          </a:p>
          <a:p>
            <a:r>
              <a:rPr lang="en-US" dirty="0"/>
              <a:t>Learned from billions of text examples → forms </a:t>
            </a:r>
            <a:r>
              <a:rPr lang="en-US" b="1" dirty="0"/>
              <a:t>patterns</a:t>
            </a:r>
            <a:r>
              <a:rPr lang="en-US" dirty="0"/>
              <a:t>, not stored facts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193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CC70E03-B435-B74C-2AC9-F98A3A0B7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happens when you type a prompt?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2EB94FD-1152-6A05-9DD5-F3070D92ED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Example prompt:</a:t>
            </a:r>
            <a:br>
              <a:rPr lang="en-IN" dirty="0"/>
            </a:br>
            <a:r>
              <a:rPr lang="en-IN" b="1" dirty="0"/>
              <a:t>“Who was the last king of Mysuru?”</a:t>
            </a:r>
            <a:endParaRPr lang="en-IN" dirty="0"/>
          </a:p>
          <a:p>
            <a:r>
              <a:rPr lang="en-IN" dirty="0"/>
              <a:t>LLM pipeline:</a:t>
            </a:r>
          </a:p>
          <a:p>
            <a:pPr marL="0" indent="0">
              <a:buNone/>
            </a:pPr>
            <a:r>
              <a:rPr lang="en-IN" dirty="0" smtClean="0"/>
              <a:t>1 Break </a:t>
            </a:r>
            <a:r>
              <a:rPr lang="en-IN" dirty="0"/>
              <a:t>text into </a:t>
            </a:r>
            <a:r>
              <a:rPr lang="en-IN" b="1" dirty="0"/>
              <a:t>tokens</a:t>
            </a:r>
            <a:r>
              <a:rPr lang="en-IN" dirty="0"/>
              <a:t/>
            </a:r>
            <a:br>
              <a:rPr lang="en-IN" dirty="0"/>
            </a:br>
            <a:r>
              <a:rPr lang="en-IN" dirty="0" smtClean="0"/>
              <a:t>2 Convert </a:t>
            </a:r>
            <a:r>
              <a:rPr lang="en-IN" dirty="0"/>
              <a:t>tokens → </a:t>
            </a:r>
            <a:r>
              <a:rPr lang="en-IN" b="1" dirty="0"/>
              <a:t>vectors (embeddings)</a:t>
            </a:r>
            <a:r>
              <a:rPr lang="en-IN" dirty="0"/>
              <a:t/>
            </a:r>
            <a:br>
              <a:rPr lang="en-IN" dirty="0"/>
            </a:br>
            <a:r>
              <a:rPr lang="en-IN" dirty="0" smtClean="0"/>
              <a:t>3 Model </a:t>
            </a:r>
            <a:r>
              <a:rPr lang="en-IN" dirty="0"/>
              <a:t>processes vectors using learned parameters</a:t>
            </a:r>
            <a:br>
              <a:rPr lang="en-IN" dirty="0"/>
            </a:br>
            <a:r>
              <a:rPr lang="en-IN" dirty="0" smtClean="0"/>
              <a:t>4 Predicts </a:t>
            </a:r>
            <a:r>
              <a:rPr lang="en-IN" b="1" dirty="0"/>
              <a:t>next tokens</a:t>
            </a:r>
            <a:r>
              <a:rPr lang="en-IN" dirty="0"/>
              <a:t> → forms final answer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1210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D39867-5ACD-9F90-06AA-932A65C43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a Token?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xmlns="" id="{D54DBF66-C43F-6D17-E387-7F557AC40F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83159" y="1825625"/>
            <a:ext cx="557072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0710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8C78B270-9144-E694-2AAF-4A6183919E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92360"/>
            <a:ext cx="10515600" cy="435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Smallest pieces of text model understands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 always full words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be: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➤ Words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➤ Sub-words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➤ Characters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➤ Special symbols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73E6771F-8BA5-B972-52EA-11C8854E1C8A}"/>
              </a:ext>
            </a:extLst>
          </p:cNvPr>
          <p:cNvSpPr txBox="1"/>
          <p:nvPr/>
        </p:nvSpPr>
        <p:spPr>
          <a:xfrm>
            <a:off x="744116" y="1014318"/>
            <a:ext cx="609755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dirty="0"/>
              <a:t>What is a Token?</a:t>
            </a:r>
          </a:p>
        </p:txBody>
      </p:sp>
    </p:spTree>
    <p:extLst>
      <p:ext uri="{BB962C8B-B14F-4D97-AF65-F5344CB8AC3E}">
        <p14:creationId xmlns:p14="http://schemas.microsoft.com/office/powerpoint/2010/main" val="4051708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8E466EE-4256-DCFD-162F-C88C21ECC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effectLst/>
              </a:rPr>
              <a:t>Word-Based Tokenization</a:t>
            </a:r>
            <a:br>
              <a:rPr lang="en-IN" dirty="0">
                <a:effectLst/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41F438D9-45D3-96E1-2779-09B3C0BAC0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Splits on spaces/punctuation.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Pros: Simple, human-readable.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Cons: Rare words (e.g., "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Mysuru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") become "unknown" tokens (UNK), handled as [UNK].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"Who was the last king of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Mysuru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?" → ["Who", "was", "the", "last", "king", "of", "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Mysuru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", "?"] </a:t>
            </a:r>
          </a:p>
        </p:txBody>
      </p:sp>
    </p:spTree>
    <p:extLst>
      <p:ext uri="{BB962C8B-B14F-4D97-AF65-F5344CB8AC3E}">
        <p14:creationId xmlns:p14="http://schemas.microsoft.com/office/powerpoint/2010/main" val="618227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0B0299C-920E-E024-814D-516E22B68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/>
            </a:r>
            <a:br>
              <a:rPr lang="en-US" dirty="0">
                <a:effectLst/>
              </a:rPr>
            </a:br>
            <a:r>
              <a:rPr lang="en-US" dirty="0" err="1">
                <a:effectLst/>
              </a:rPr>
              <a:t>Subword</a:t>
            </a:r>
            <a:r>
              <a:rPr lang="en-US" dirty="0">
                <a:effectLst/>
              </a:rPr>
              <a:t> Tokenization (e.g., Byte-Pair Encoding – BPE)</a:t>
            </a:r>
            <a:br>
              <a:rPr lang="en-US" dirty="0">
                <a:effectLst/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74ED83D3-F153-AB07-F7B2-BE4BBBE0F0F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Merges frequent character pairs into subwords (e.g., "ing" or "un").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Pros: Handles rare words by breaking them (e.g., "Mysuru" → "Mys" + "uru"); smaller vocab.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Cons: Less intuitive splits.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It Works: Start with characters, iteratively merge common pairs (e.g., "t" + "h" → "th"). </a:t>
            </a:r>
          </a:p>
        </p:txBody>
      </p:sp>
    </p:spTree>
    <p:extLst>
      <p:ext uri="{BB962C8B-B14F-4D97-AF65-F5344CB8AC3E}">
        <p14:creationId xmlns:p14="http://schemas.microsoft.com/office/powerpoint/2010/main" val="1526391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9464E36-70A8-EC2C-404A-41ED2ABCD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</a:t>
            </a:r>
            <a:r>
              <a:rPr lang="en-US" dirty="0" err="1"/>
              <a:t>subwords</a:t>
            </a:r>
            <a:r>
              <a:rPr lang="en-US" dirty="0"/>
              <a:t>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57D13E7-3303-F5BC-5EDE-C845E078C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✔ Reduces vocabulary size</a:t>
            </a:r>
            <a:br>
              <a:rPr lang="en-US" dirty="0"/>
            </a:br>
            <a:r>
              <a:rPr lang="en-US" dirty="0"/>
              <a:t>✔ Handles rare/new words like “Mysuru” better</a:t>
            </a:r>
            <a:br>
              <a:rPr lang="en-US" dirty="0"/>
            </a:br>
            <a:r>
              <a:rPr lang="en-US" dirty="0"/>
              <a:t>✔ Efficient training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106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1838704-D1B0-AD24-6566-E0037FBBB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effectLst/>
              </a:rPr>
              <a:t>Character-Based Tokenization</a:t>
            </a:r>
            <a:br>
              <a:rPr lang="en-IN" dirty="0">
                <a:effectLst/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4F43A7B1-1456-905B-8DEC-97FD683AA4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Splits into single characters.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Pros: Tiny vocab (~100 tokens); no unknown words.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Cons: Long sequences (e.g., sentence needs 50+ tokens); slower processing. </a:t>
            </a:r>
          </a:p>
        </p:txBody>
      </p:sp>
    </p:spTree>
    <p:extLst>
      <p:ext uri="{BB962C8B-B14F-4D97-AF65-F5344CB8AC3E}">
        <p14:creationId xmlns:p14="http://schemas.microsoft.com/office/powerpoint/2010/main" val="13860758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10C5710-0DD8-D492-788A-17D555113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Tokenization Techniques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D1B5614D-F815-5F70-E4CF-5CCB536364E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766854"/>
          <a:ext cx="10515600" cy="246888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xmlns="" val="401470602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xmlns="" val="428951335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xmlns="" val="95675164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xmlns="" val="28860259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xmlns="" val="14762190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Technique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How it splits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827479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Word-level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Full words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Fails on rare words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Old models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0475404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Character-level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Every character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Handles anything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Very long sequences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Some research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1320681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BPE (Byte Pair Encoding)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Frequent chunks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Good balance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Sometimes weird splits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GPT-2, Llama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2764259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WordPiece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Subword optimized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Great for search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Needs vocabulary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386640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SentencePiece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Unicode-level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Multi-language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Requires training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GPT-3, </a:t>
                      </a:r>
                      <a:r>
                        <a:rPr lang="en-IN" dirty="0" err="1"/>
                        <a:t>PaLM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8190501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68946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2CACBFE-2D4B-BB8E-C92B-88739E01C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Differences Table: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8B221634-B3FF-EA35-9372-430B51D47EC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995454"/>
          <a:ext cx="10515600" cy="201168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xmlns="" val="30835193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xmlns="" val="295185260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xmlns="" val="234966172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xmlns="" val="104329848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xmlns="" val="23246118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Technique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Vocab Size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Handles Rare Words?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Speed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 Split for "Mysuru"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8072302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Word-Based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Large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Poor (uses UNK)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["Mysuru"]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790801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Subword (BPE)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Good (subparts)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["Mys", "uru"]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292360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Character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Small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Excellent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["M", "y", "s", "u", "r", "u"]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806913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35522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859A491-897D-50E5-22B7-1EE7B1008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Embeddings: From Words to Vectors</a:t>
            </a:r>
            <a:br>
              <a:rPr lang="en-US" dirty="0">
                <a:effectLst/>
              </a:rPr>
            </a:br>
            <a:endParaRPr lang="en-IN" dirty="0"/>
          </a:p>
        </p:txBody>
      </p:sp>
      <p:pic>
        <p:nvPicPr>
          <p:cNvPr id="9218" name="Picture 2" descr="The classical king + woman − man ≈ queen example of neural word... |  Download Scientific Diagram">
            <a:extLst>
              <a:ext uri="{FF2B5EF4-FFF2-40B4-BE49-F238E27FC236}">
                <a16:creationId xmlns:a16="http://schemas.microsoft.com/office/drawing/2014/main" xmlns="" id="{B3AD4606-A8E5-7F9D-21F9-BA0F6D17C94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0325" y="2301081"/>
            <a:ext cx="6991350" cy="3400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858FC5D5-FB5A-AC77-F9C1-544B01F85FD9}"/>
              </a:ext>
            </a:extLst>
          </p:cNvPr>
          <p:cNvSpPr txBox="1"/>
          <p:nvPr/>
        </p:nvSpPr>
        <p:spPr>
          <a:xfrm>
            <a:off x="958721" y="1377751"/>
            <a:ext cx="60975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Example semantic relation:</a:t>
            </a:r>
            <a:br>
              <a:rPr lang="en-US" dirty="0"/>
            </a:br>
            <a:r>
              <a:rPr lang="en-US" b="1" dirty="0"/>
              <a:t>queen — king = woman — man</a:t>
            </a:r>
            <a:endParaRPr lang="en-US" dirty="0"/>
          </a:p>
          <a:p>
            <a:pPr>
              <a:buNone/>
            </a:pPr>
            <a:r>
              <a:rPr lang="en-US" dirty="0"/>
              <a:t>Embeddings give </a:t>
            </a:r>
            <a:r>
              <a:rPr lang="en-US" b="1" dirty="0"/>
              <a:t>meaning</a:t>
            </a:r>
            <a:r>
              <a:rPr lang="en-US" dirty="0"/>
              <a:t>, not just spelling</a:t>
            </a:r>
          </a:p>
        </p:txBody>
      </p:sp>
    </p:spTree>
    <p:extLst>
      <p:ext uri="{BB962C8B-B14F-4D97-AF65-F5344CB8AC3E}">
        <p14:creationId xmlns:p14="http://schemas.microsoft.com/office/powerpoint/2010/main" val="612707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BDC75BB-02D5-00CB-A1D4-2B9BF94EE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Embeddings: From Words to Vectors</a:t>
            </a:r>
            <a:br>
              <a:rPr lang="en-US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DFDB62A-98DC-82DC-F47C-0F7008A371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>
                <a:effectLst/>
              </a:rPr>
              <a:t>What Are Embeddings? Numerical representations of tokens – high-dimensional vectors (e.g., 768 numbers) capturing meaning.</a:t>
            </a:r>
          </a:p>
          <a:p>
            <a:endParaRPr lang="en-IN" dirty="0"/>
          </a:p>
          <a:p>
            <a:r>
              <a:rPr lang="en-US" dirty="0">
                <a:effectLst/>
              </a:rPr>
              <a:t>How Learned: During training on huge datasets, model adjusts vectors so similar words are "close" in space.</a:t>
            </a:r>
          </a:p>
          <a:p>
            <a:endParaRPr lang="en-IN" dirty="0"/>
          </a:p>
          <a:p>
            <a:r>
              <a:rPr lang="en-US" dirty="0">
                <a:effectLst/>
              </a:rPr>
              <a:t>Vocabulary Example: Model trained on 50,000 unique tokens. "King" stored as: [0.23, -0.45, 1.12, ..., 0.67] (a 768-float vector).</a:t>
            </a:r>
          </a:p>
          <a:p>
            <a:endParaRPr lang="en-US" dirty="0"/>
          </a:p>
          <a:p>
            <a:r>
              <a:rPr lang="en-US" dirty="0">
                <a:effectLst/>
              </a:rPr>
              <a:t>Analogy: Like coordinates on a map – "king" at (5, 3), "queen" nearby at (5.1, 2.9) because they're related.</a:t>
            </a:r>
          </a:p>
          <a:p>
            <a:endParaRPr lang="en-US" dirty="0"/>
          </a:p>
          <a:p>
            <a:r>
              <a:rPr lang="en-US" dirty="0">
                <a:effectLst/>
              </a:rPr>
              <a:t>Process: Token ID → Lookup embedding table → Vector ready for math in the model.</a:t>
            </a:r>
          </a:p>
          <a:p>
            <a:endParaRPr lang="en-US" dirty="0">
              <a:effectLst/>
            </a:endParaRPr>
          </a:p>
          <a:p>
            <a:endParaRPr lang="en-US" dirty="0">
              <a:effectLst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2793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176B5EA-4E88-62E7-3425-0207AE3A3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has the model “learned”?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1CCB995-CEEE-8035-93C0-8DFD777D86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LLMs learn </a:t>
            </a:r>
            <a:r>
              <a:rPr lang="en-IN" b="1" dirty="0"/>
              <a:t>statistical relationships</a:t>
            </a:r>
            <a:r>
              <a:rPr lang="en-IN" dirty="0"/>
              <a:t> from massive text corpus:</a:t>
            </a:r>
          </a:p>
          <a:p>
            <a:r>
              <a:rPr lang="en-IN" dirty="0"/>
              <a:t>Example:</a:t>
            </a:r>
            <a:br>
              <a:rPr lang="en-IN" dirty="0"/>
            </a:br>
            <a:r>
              <a:rPr lang="en-IN" dirty="0"/>
              <a:t>“king” → royalty, ruler, historical context</a:t>
            </a:r>
            <a:br>
              <a:rPr lang="en-IN" dirty="0"/>
            </a:br>
            <a:r>
              <a:rPr lang="en-IN" dirty="0"/>
              <a:t>“Mysuru” → city in Karnataka, Wodeyar dynasty</a:t>
            </a:r>
          </a:p>
          <a:p>
            <a:r>
              <a:rPr lang="en-IN" dirty="0"/>
              <a:t>So when prompt says:</a:t>
            </a:r>
            <a:br>
              <a:rPr lang="en-IN" dirty="0"/>
            </a:br>
            <a:r>
              <a:rPr lang="en-IN" dirty="0"/>
              <a:t>→ “last king of Mysuru”</a:t>
            </a:r>
            <a:br>
              <a:rPr lang="en-IN" dirty="0"/>
            </a:br>
            <a:r>
              <a:rPr lang="en-IN" dirty="0"/>
              <a:t>Model connects </a:t>
            </a:r>
            <a:r>
              <a:rPr lang="en-IN" b="1" dirty="0"/>
              <a:t>king</a:t>
            </a:r>
            <a:r>
              <a:rPr lang="en-IN" dirty="0"/>
              <a:t> + </a:t>
            </a:r>
            <a:r>
              <a:rPr lang="en-IN" b="1" dirty="0"/>
              <a:t>Mysuru</a:t>
            </a:r>
            <a:r>
              <a:rPr lang="en-IN" dirty="0"/>
              <a:t> via </a:t>
            </a:r>
            <a:r>
              <a:rPr lang="en-IN" b="1" dirty="0"/>
              <a:t>embeddings + learned knowledge</a:t>
            </a:r>
            <a:endParaRPr lang="en-IN" dirty="0"/>
          </a:p>
          <a:p>
            <a:r>
              <a:rPr lang="en-IN" dirty="0"/>
              <a:t>⚠️ It does </a:t>
            </a:r>
            <a:r>
              <a:rPr lang="en-IN" b="1" dirty="0"/>
              <a:t>not</a:t>
            </a:r>
            <a:r>
              <a:rPr lang="en-IN" dirty="0"/>
              <a:t> copy from database — it </a:t>
            </a:r>
            <a:r>
              <a:rPr lang="en-IN" b="1" dirty="0"/>
              <a:t>predicts based on patterns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96211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28AB56-D64E-523F-0108-596FA4C7A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The Model's "Brain" – Parameters and Processing</a:t>
            </a:r>
            <a:br>
              <a:rPr lang="en-US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67CB557-1F44-F569-4B2C-FEC1C02718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Parameters = </a:t>
            </a:r>
            <a:r>
              <a:rPr lang="en-IN" b="1" dirty="0"/>
              <a:t>weights</a:t>
            </a:r>
            <a:r>
              <a:rPr lang="en-IN" dirty="0"/>
              <a:t> inside neural network</a:t>
            </a:r>
          </a:p>
          <a:p>
            <a:r>
              <a:rPr lang="en-IN" dirty="0"/>
              <a:t>Represent </a:t>
            </a:r>
            <a:r>
              <a:rPr lang="en-IN" b="1" dirty="0"/>
              <a:t>model memory + knowledge</a:t>
            </a:r>
            <a:endParaRPr lang="en-IN" dirty="0"/>
          </a:p>
          <a:p>
            <a:r>
              <a:rPr lang="en-IN" dirty="0"/>
              <a:t>Example sizes:</a:t>
            </a:r>
            <a:br>
              <a:rPr lang="en-IN" dirty="0"/>
            </a:br>
            <a:r>
              <a:rPr lang="en-IN" i="1" dirty="0"/>
              <a:t>GPT-3: 175B</a:t>
            </a:r>
            <a:r>
              <a:rPr lang="en-IN" dirty="0"/>
              <a:t> | </a:t>
            </a:r>
            <a:r>
              <a:rPr lang="en-IN" i="1" dirty="0"/>
              <a:t>Llama2: 70B</a:t>
            </a:r>
            <a:endParaRPr lang="en-IN" dirty="0"/>
          </a:p>
          <a:p>
            <a:r>
              <a:rPr lang="en-IN" dirty="0"/>
              <a:t>Bigger parameters →</a:t>
            </a:r>
            <a:br>
              <a:rPr lang="en-IN" dirty="0"/>
            </a:br>
            <a:r>
              <a:rPr lang="en-IN" dirty="0"/>
              <a:t>✔ Better understanding</a:t>
            </a:r>
            <a:br>
              <a:rPr lang="en-IN" dirty="0"/>
            </a:br>
            <a:r>
              <a:rPr lang="en-IN" dirty="0"/>
              <a:t>✔ More knowledge</a:t>
            </a:r>
            <a:br>
              <a:rPr lang="en-IN" dirty="0"/>
            </a:br>
            <a:r>
              <a:rPr lang="en-IN" dirty="0"/>
              <a:t>✘ More compute required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70432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FE7DC7D-99B6-BA29-77FF-0462C155D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effectLst/>
              </a:rPr>
              <a:t>Transformer Architecture (Simplified)</a:t>
            </a:r>
            <a:br>
              <a:rPr lang="en-IN" dirty="0">
                <a:effectLst/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2E7C5839-8E3F-33DB-C100-E7311DD04C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Attention: Focuses on relevant tokens (e.g., "king" attends to "last" and "Mysuru").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Layers: Stack of math ops on embeddings to predict next token. </a:t>
            </a:r>
          </a:p>
        </p:txBody>
      </p:sp>
    </p:spTree>
    <p:extLst>
      <p:ext uri="{BB962C8B-B14F-4D97-AF65-F5344CB8AC3E}">
        <p14:creationId xmlns:p14="http://schemas.microsoft.com/office/powerpoint/2010/main" val="11309010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9A7DABC-6F11-D6E7-8750-419DC97F2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Tokens &amp; Context Window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1F886D59-4166-0EFE-4F9F-FDE3CA016BA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269774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xmlns="" val="316892739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xmlns="" val="29141600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Context Window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8681135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GPT-3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2K tokens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759543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GPT-4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up to 128K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1405662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Claude 3 Opus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200K+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1311533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75886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B2E01B7-0EFB-1C75-B415-C87C3A950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Full Pipeline Example – From Prompt to Answer</a:t>
            </a:r>
            <a:br>
              <a:rPr lang="en-US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AED5984-DCB7-4006-B463-0A70863D4B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Prompt:</a:t>
            </a:r>
            <a:r>
              <a:rPr lang="en-US" dirty="0"/>
              <a:t> "Who was the last king of Mysuru?" </a:t>
            </a:r>
            <a:r>
              <a:rPr lang="en-US" b="1" dirty="0"/>
              <a:t>Tokenize (BPE):</a:t>
            </a:r>
            <a:r>
              <a:rPr lang="en-US" dirty="0"/>
              <a:t> ["Who", " was", " the", " last", " king", " of", " Mys", "</a:t>
            </a:r>
            <a:r>
              <a:rPr lang="en-US" dirty="0" err="1"/>
              <a:t>uru</a:t>
            </a:r>
            <a:r>
              <a:rPr lang="en-US" dirty="0"/>
              <a:t>", "?"]</a:t>
            </a:r>
          </a:p>
          <a:p>
            <a:r>
              <a:rPr lang="en-US" b="1" dirty="0"/>
              <a:t>Embed:</a:t>
            </a:r>
            <a:r>
              <a:rPr lang="en-US" dirty="0"/>
              <a:t> Each → Vector (e.g., "king" = [0.23, -0.45, ...])</a:t>
            </a:r>
          </a:p>
          <a:p>
            <a:r>
              <a:rPr lang="en-US" b="1" dirty="0"/>
              <a:t>Process:</a:t>
            </a:r>
            <a:r>
              <a:rPr lang="en-US" dirty="0"/>
              <a:t> Model uses params to link "last king Mysuru" → Historical pattern match.</a:t>
            </a:r>
          </a:p>
          <a:p>
            <a:r>
              <a:rPr lang="en-US" b="1" dirty="0"/>
              <a:t>Generate:</a:t>
            </a:r>
            <a:r>
              <a:rPr lang="en-US" dirty="0"/>
              <a:t> Predicts tokens: "The", " last", " king", " of", " Mysuru", " was", " Krishnaraja", " Wadiyar", " IV", "." (Within context window).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13074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C7FD703-907B-B67D-311F-D5DC5B00E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Quick Probability Example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C2B0DF55-33DC-6E5B-7B2F-480D64D7067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086894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xmlns="" val="337720227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xmlns="" val="9745494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Token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Probability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1226643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Jayachamarajendra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0.65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267122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Wadiyar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041958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Tipu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649395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Fake names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&lt;0.02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627747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53336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348CED9-3EF3-C6B8-0E53-631E14D5B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LLMs sometimes hallucinate?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29F185F-92A4-C2D3-03EE-CCA7B9F077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direct access to live facts (unless using RAG)</a:t>
            </a:r>
          </a:p>
          <a:p>
            <a:r>
              <a:rPr lang="en-US" dirty="0"/>
              <a:t>If training data is incomplete → model “fills gaps”</a:t>
            </a:r>
          </a:p>
          <a:p>
            <a:r>
              <a:rPr lang="en-US" b="1" dirty="0"/>
              <a:t>Prediction ≠ Truth</a:t>
            </a:r>
            <a:endParaRPr lang="en-US" dirty="0"/>
          </a:p>
          <a:p>
            <a:r>
              <a:rPr lang="en-US" dirty="0"/>
              <a:t>Fix:</a:t>
            </a:r>
            <a:br>
              <a:rPr lang="en-US" dirty="0"/>
            </a:br>
            <a:r>
              <a:rPr lang="en-US" dirty="0"/>
              <a:t>✅ Retrieval-Augmented Generation (RAG)</a:t>
            </a:r>
            <a:br>
              <a:rPr lang="en-US" dirty="0"/>
            </a:br>
            <a:r>
              <a:rPr lang="en-US" dirty="0"/>
              <a:t>✅ Guardrails</a:t>
            </a:r>
            <a:br>
              <a:rPr lang="en-US" dirty="0"/>
            </a:br>
            <a:r>
              <a:rPr lang="en-US" dirty="0"/>
              <a:t>✅ Human review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694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773</Words>
  <Application>Microsoft Office PowerPoint</Application>
  <PresentationFormat>Custom</PresentationFormat>
  <Paragraphs>143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What is an LLM?</vt:lpstr>
      <vt:lpstr>PowerPoint Presentation</vt:lpstr>
      <vt:lpstr>What happens when you type a prompt?</vt:lpstr>
      <vt:lpstr>What is a Token?</vt:lpstr>
      <vt:lpstr>PowerPoint Presentation</vt:lpstr>
      <vt:lpstr>Word-Based Tokenization </vt:lpstr>
      <vt:lpstr> Subword Tokenization (e.g., Byte-Pair Encoding – BPE) </vt:lpstr>
      <vt:lpstr>Why subwords?</vt:lpstr>
      <vt:lpstr>Character-Based Tokenization </vt:lpstr>
      <vt:lpstr>Tokenization Techniques</vt:lpstr>
      <vt:lpstr>Differences Table: </vt:lpstr>
      <vt:lpstr>Embeddings: From Words to Vectors </vt:lpstr>
      <vt:lpstr>Embeddings: From Words to Vectors </vt:lpstr>
      <vt:lpstr>What has the model “learned”?</vt:lpstr>
      <vt:lpstr>The Model's "Brain" – Parameters and Processing </vt:lpstr>
      <vt:lpstr>Transformer Architecture (Simplified) </vt:lpstr>
      <vt:lpstr>Tokens &amp; Context Window</vt:lpstr>
      <vt:lpstr>Full Pipeline Example – From Prompt to Answer </vt:lpstr>
      <vt:lpstr>Quick Probability Example</vt:lpstr>
      <vt:lpstr>Why do LLMs sometimes hallucinate?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an LLM?</dc:title>
  <dc:creator>Pavan GS</dc:creator>
  <cp:lastModifiedBy>admin</cp:lastModifiedBy>
  <cp:revision>11</cp:revision>
  <dcterms:created xsi:type="dcterms:W3CDTF">2025-11-06T18:59:15Z</dcterms:created>
  <dcterms:modified xsi:type="dcterms:W3CDTF">2025-11-07T03:28:16Z</dcterms:modified>
</cp:coreProperties>
</file>